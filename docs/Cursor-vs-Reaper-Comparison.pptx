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5F5F5"/>
                </a:solidFill>
              </a:defRPr>
            </a:pPr>
            <a:r>
              <a:t>Cursor vs Reaper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B0B0C0"/>
                </a:solidFill>
              </a:defRPr>
            </a:pPr>
            <a:r>
              <a:t>Feature comparison for AI-assisted development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0B0C0"/>
                </a:solidFill>
              </a:defRPr>
            </a:pPr>
            <a:r>
              <a:t>Reaper v0.1.3 ·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5F5F5"/>
                </a:solidFill>
              </a:defRPr>
            </a:pPr>
            <a:r>
              <a:t>Cursor — AI-native IDE (VS Code fork) built around autonomous agents, codebase indexing, and cloud execution.</a:t>
            </a:r>
          </a:p>
          <a:p>
            <a:pPr>
              <a:spcAft>
                <a:spcPts val="800"/>
              </a:spcAft>
              <a:defRPr sz="1600">
                <a:solidFill>
                  <a:srgbClr val="F5F5F5"/>
                </a:solidFill>
              </a:defRPr>
            </a:pPr>
            <a:r>
              <a:t>Reaper — Local developer git studio (Rust) with IntelliJ-style UI, self-hosted repos, and multi-provider AI (Cursor bridge + Gemini).</a:t>
            </a:r>
          </a:p>
          <a:p>
            <a:pPr>
              <a:spcAft>
                <a:spcPts val="800"/>
              </a:spcAft>
              <a:defRPr sz="1600">
                <a:solidFill>
                  <a:srgbClr val="F5F5F5"/>
                </a:solidFill>
              </a:defRPr>
            </a:pPr>
            <a:r>
              <a:t>Cursor optimizes for: broad language support, agent autonomy, team/cloud workflows, extension ecosystem.</a:t>
            </a:r>
          </a:p>
          <a:p>
            <a:pPr>
              <a:spcAft>
                <a:spcPts val="800"/>
              </a:spcAft>
              <a:defRPr sz="1600">
                <a:solidFill>
                  <a:srgbClr val="F5F5F5"/>
                </a:solidFill>
              </a:defRPr>
            </a:pPr>
            <a:r>
              <a:t>Reaper optimizes for: git-centric local dev, Java/enterprise builds, private PAT remotes, integrated build/DB/coverage panels.</a:t>
            </a:r>
          </a:p>
          <a:p>
            <a:pPr>
              <a:spcAft>
                <a:spcPts val="800"/>
              </a:spcAft>
              <a:defRPr sz="1600">
                <a:solidFill>
                  <a:srgbClr val="F5F5F5"/>
                </a:solidFill>
              </a:defRPr>
            </a:pPr>
            <a:r>
              <a:t>They overlap on: inline AI completions, agent chat with file edits, terminal, git UI — but serve different primary use cases.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0B0C0"/>
                </a:solidFill>
              </a:defRPr>
            </a:pPr>
            <a:r>
              <a:t>Audience: engineering leads evaluating tooling for Java/enterprise teams vs general AI-first development.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F5F5"/>
                </a:solidFill>
              </a:defRPr>
            </a:pPr>
            <a:r>
              <a:t>Product positioning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14400"/>
            <a:ext cx="4023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D9EE8"/>
                </a:solidFill>
              </a:defRPr>
            </a:pPr>
            <a:r>
              <a:t>Cursor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325880"/>
            <a:ext cx="4023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5F5F5"/>
                </a:solidFill>
              </a:defRPr>
            </a:pPr>
            <a:r>
              <a:t>• VS Code fork → full extension marketplace</a:t>
            </a:r>
          </a:p>
          <a:p>
            <a:pPr>
              <a:spcAft>
                <a:spcPts val="600"/>
              </a:spcAft>
              <a:defRPr sz="1300">
                <a:solidFill>
                  <a:srgbClr val="F5F5F5"/>
                </a:solidFill>
              </a:defRPr>
            </a:pPr>
            <a:r>
              <a:t>• Agent-first interface (Cursor 3)</a:t>
            </a:r>
          </a:p>
          <a:p>
            <a:pPr>
              <a:spcAft>
                <a:spcPts val="600"/>
              </a:spcAft>
              <a:defRPr sz="1300">
                <a:solidFill>
                  <a:srgbClr val="F5F5F5"/>
                </a:solidFill>
              </a:defRPr>
            </a:pPr>
            <a:r>
              <a:t>• Semantic codebase index + @-mentions</a:t>
            </a:r>
          </a:p>
          <a:p>
            <a:pPr>
              <a:spcAft>
                <a:spcPts val="600"/>
              </a:spcAft>
              <a:defRPr sz="1300">
                <a:solidFill>
                  <a:srgbClr val="F5F5F5"/>
                </a:solidFill>
              </a:defRPr>
            </a:pPr>
            <a:r>
              <a:t>• Cloud &amp; background agents (PR output)</a:t>
            </a:r>
          </a:p>
          <a:p>
            <a:pPr>
              <a:spcAft>
                <a:spcPts val="600"/>
              </a:spcAft>
              <a:defRPr sz="1300">
                <a:solidFill>
                  <a:srgbClr val="F5F5F5"/>
                </a:solidFill>
              </a:defRPr>
            </a:pPr>
            <a:r>
              <a:t>• Credit-metered SaaS ($20–200/mo)</a:t>
            </a:r>
          </a:p>
          <a:p>
            <a:pPr>
              <a:spcAft>
                <a:spcPts val="600"/>
              </a:spcAft>
              <a:defRPr sz="1300">
                <a:solidFill>
                  <a:srgbClr val="F5F5F5"/>
                </a:solidFill>
              </a:defRPr>
            </a:pPr>
            <a:r>
              <a:t>• macOS, Windows, Linux + mobile + CLI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17720" y="914400"/>
            <a:ext cx="4023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84D3D"/>
                </a:solidFill>
              </a:defRPr>
            </a:pPr>
            <a:r>
              <a:t>Reaper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17720" y="1325880"/>
            <a:ext cx="4023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5F5F5"/>
                </a:solidFill>
              </a:defRPr>
            </a:pPr>
            <a:r>
              <a:t>• Rust native app + Monaco editor</a:t>
            </a:r>
          </a:p>
          <a:p>
            <a:pPr>
              <a:spcAft>
                <a:spcPts val="600"/>
              </a:spcAft>
              <a:defRPr sz="1300">
                <a:solidFill>
                  <a:srgbClr val="F5F5F5"/>
                </a:solidFill>
              </a:defRPr>
            </a:pPr>
            <a:r>
              <a:t>• Git studio: host bare repos over HTTP</a:t>
            </a:r>
          </a:p>
          <a:p>
            <a:pPr>
              <a:spcAft>
                <a:spcPts val="600"/>
              </a:spcAft>
              <a:defRPr sz="1300">
                <a:solidFill>
                  <a:srgbClr val="F5F5F5"/>
                </a:solidFill>
              </a:defRPr>
            </a:pPr>
            <a:r>
              <a:t>• IntelliJ-inspired single-window UI</a:t>
            </a:r>
          </a:p>
          <a:p>
            <a:pPr>
              <a:spcAft>
                <a:spcPts val="600"/>
              </a:spcAft>
              <a:defRPr sz="1300">
                <a:solidFill>
                  <a:srgbClr val="F5F5F5"/>
                </a:solidFill>
              </a:defRPr>
            </a:pPr>
            <a:r>
              <a:t>• Local-first; PAT-based private remotes</a:t>
            </a:r>
          </a:p>
          <a:p>
            <a:pPr>
              <a:spcAft>
                <a:spcPts val="600"/>
              </a:spcAft>
              <a:defRPr sz="1300">
                <a:solidFill>
                  <a:srgbClr val="F5F5F5"/>
                </a:solidFill>
              </a:defRPr>
            </a:pPr>
            <a:r>
              <a:t>• Open source (MIT); self-hosted data</a:t>
            </a:r>
          </a:p>
          <a:p>
            <a:pPr>
              <a:spcAft>
                <a:spcPts val="600"/>
              </a:spcAft>
              <a:defRPr sz="1300">
                <a:solidFill>
                  <a:srgbClr val="F5F5F5"/>
                </a:solidFill>
              </a:defRPr>
            </a:pPr>
            <a:r>
              <a:t>• macOS DMG (server mode cross-platform)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834640"/>
            <a:ext cx="9144000" cy="73152"/>
          </a:xfrm>
          <a:prstGeom prst="rect">
            <a:avLst/>
          </a:prstGeom>
          <a:solidFill>
            <a:srgbClr val="E84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5F5F5"/>
                </a:solidFill>
              </a:defRPr>
            </a:pPr>
            <a:r>
              <a:t>AI &amp; agents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F5F5"/>
                </a:solidFill>
              </a:defRPr>
            </a:pPr>
            <a:r>
              <a:t>AI capabilities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960120"/>
          <a:ext cx="841248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00400"/>
                <a:gridCol w="3200400"/>
              </a:tblGrid>
              <a:tr h="482138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5F5F5"/>
                          </a:solidFill>
                        </a:defRPr>
                      </a:pPr>
                      <a:r>
                        <a:t>Capability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3D9EE8"/>
                          </a:solidFill>
                        </a:defRPr>
                      </a:pPr>
                      <a:r>
                        <a:t>Cursor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E84D3D"/>
                          </a:solidFill>
                        </a:defRPr>
                      </a:pPr>
                      <a:r>
                        <a:t>Reaper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Chat modes</a:t>
                      </a:r>
                    </a:p>
                  </a:txBody>
                  <a:tcPr anchor="ctr">
                    <a:solidFill>
                      <a:srgbClr val="2222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Ask · Agent · Manual/Edit</a:t>
                      </a:r>
                    </a:p>
                  </a:txBody>
                  <a:tcPr anchor="ctr">
                    <a:solidFill>
                      <a:srgbClr val="2222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Cursor: Agent/Plan/Ask · Gemini: read-only Q&amp;A</a:t>
                      </a:r>
                    </a:p>
                  </a:txBody>
                  <a:tcPr anchor="ctr">
                    <a:solidFill>
                      <a:srgbClr val="222235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File edits</a:t>
                      </a:r>
                    </a:p>
                  </a:txBody>
                  <a:tcPr anchor="ctr">
                    <a:solidFill>
                      <a:srgbClr val="1E1E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Agent + Composer multi-file diffs</a:t>
                      </a:r>
                    </a:p>
                  </a:txBody>
                  <a:tcPr anchor="ctr">
                    <a:solidFill>
                      <a:srgbClr val="1E1E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Cursor bridge edits + revert last turn</a:t>
                      </a:r>
                    </a:p>
                  </a:txBody>
                  <a:tcPr anchor="ctr">
                    <a:solidFill>
                      <a:srgbClr val="1E1E30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Inline completions</a:t>
                      </a:r>
                    </a:p>
                  </a:txBody>
                  <a:tcPr anchor="ctr">
                    <a:solidFill>
                      <a:srgbClr val="2222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Tab completions (model picker)</a:t>
                      </a:r>
                    </a:p>
                  </a:txBody>
                  <a:tcPr anchor="ctr">
                    <a:solidFill>
                      <a:srgbClr val="2222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Cursor → Gemini → Claude → LSP chain</a:t>
                      </a:r>
                    </a:p>
                  </a:txBody>
                  <a:tcPr anchor="ctr">
                    <a:solidFill>
                      <a:srgbClr val="222235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Cloud agents</a:t>
                      </a:r>
                    </a:p>
                  </a:txBody>
                  <a:tcPr anchor="ctr">
                    <a:solidFill>
                      <a:srgbClr val="1E1E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Background VMs, async PRs</a:t>
                      </a:r>
                    </a:p>
                  </a:txBody>
                  <a:tcPr anchor="ctr">
                    <a:solidFill>
                      <a:srgbClr val="1E1E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Not available (local only)</a:t>
                      </a:r>
                    </a:p>
                  </a:txBody>
                  <a:tcPr anchor="ctr">
                    <a:solidFill>
                      <a:srgbClr val="1E1E30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Parallel agents</a:t>
                      </a:r>
                    </a:p>
                  </a:txBody>
                  <a:tcPr anchor="ctr">
                    <a:solidFill>
                      <a:srgbClr val="2222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Up to 8 (worktrees / cloud)</a:t>
                      </a:r>
                    </a:p>
                  </a:txBody>
                  <a:tcPr anchor="ctr">
                    <a:solidFill>
                      <a:srgbClr val="2222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Single agent panel</a:t>
                      </a:r>
                    </a:p>
                  </a:txBody>
                  <a:tcPr anchor="ctr">
                    <a:solidFill>
                      <a:srgbClr val="222235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Context</a:t>
                      </a:r>
                    </a:p>
                  </a:txBody>
                  <a:tcPr anchor="ctr">
                    <a:solidFill>
                      <a:srgbClr val="1E1E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@codebase @file @docs @web</a:t>
                      </a:r>
                    </a:p>
                  </a:txBody>
                  <a:tcPr anchor="ctr">
                    <a:solidFill>
                      <a:srgbClr val="1E1E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Active file + repo; no @-mention UX</a:t>
                      </a:r>
                    </a:p>
                  </a:txBody>
                  <a:tcPr anchor="ctr">
                    <a:solidFill>
                      <a:srgbClr val="1E1E30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Rules / skills</a:t>
                      </a:r>
                    </a:p>
                  </a:txBody>
                  <a:tcPr anchor="ctr">
                    <a:solidFill>
                      <a:srgbClr val="2222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.cursor/rules, skills, MCP plugins</a:t>
                      </a:r>
                    </a:p>
                  </a:txBody>
                  <a:tcPr anchor="ctr">
                    <a:solidFill>
                      <a:srgbClr val="2222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Not available</a:t>
                      </a:r>
                    </a:p>
                  </a:txBody>
                  <a:tcPr anchor="ctr">
                    <a:solidFill>
                      <a:srgbClr val="222235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PR review</a:t>
                      </a:r>
                    </a:p>
                  </a:txBody>
                  <a:tcPr anchor="ctr">
                    <a:solidFill>
                      <a:srgbClr val="1E1E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BugBot automated review</a:t>
                      </a:r>
                    </a:p>
                  </a:txBody>
                  <a:tcPr anchor="ctr">
                    <a:solidFill>
                      <a:srgbClr val="1E1E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Not available</a:t>
                      </a:r>
                    </a:p>
                  </a:txBody>
                  <a:tcPr anchor="ctr">
                    <a:solidFill>
                      <a:srgbClr val="1E1E30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Commit messages</a:t>
                      </a:r>
                    </a:p>
                  </a:txBody>
                  <a:tcPr anchor="ctr">
                    <a:solidFill>
                      <a:srgbClr val="2222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Via agent/chat</a:t>
                      </a:r>
                    </a:p>
                  </a:txBody>
                  <a:tcPr anchor="ctr">
                    <a:solidFill>
                      <a:srgbClr val="2222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Gemini suggest from staged diff</a:t>
                      </a:r>
                    </a:p>
                  </a:txBody>
                  <a:tcPr anchor="ctr">
                    <a:solidFill>
                      <a:srgbClr val="222235"/>
                    </a:solidFill>
                  </a:tcPr>
                </a:tc>
              </a:tr>
              <a:tr h="4821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Quick fixes</a:t>
                      </a:r>
                    </a:p>
                  </a:txBody>
                  <a:tcPr anchor="ctr">
                    <a:solidFill>
                      <a:srgbClr val="1E1E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Via agent / inline</a:t>
                      </a:r>
                    </a:p>
                  </a:txBody>
                  <a:tcPr anchor="ctr">
                    <a:solidFill>
                      <a:srgbClr val="1E1E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Gemini + Cursor fallback bulb</a:t>
                      </a:r>
                    </a:p>
                  </a:txBody>
                  <a:tcPr anchor="ctr">
                    <a:solidFill>
                      <a:srgbClr val="1E1E3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834640"/>
            <a:ext cx="9144000" cy="73152"/>
          </a:xfrm>
          <a:prstGeom prst="rect">
            <a:avLst/>
          </a:prstGeom>
          <a:solidFill>
            <a:srgbClr val="E84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5F5F5"/>
                </a:solidFill>
              </a:defRPr>
            </a:pPr>
            <a:r>
              <a:t>Editor &amp; IDE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F5F5"/>
                </a:solidFill>
              </a:defRPr>
            </a:pPr>
            <a:r>
              <a:t>Editor &amp; language support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960120"/>
          <a:ext cx="841248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00400"/>
                <a:gridCol w="3200400"/>
              </a:tblGrid>
              <a:tr h="482138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5F5F5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3D9EE8"/>
                          </a:solidFill>
                        </a:defRPr>
                      </a:pPr>
                      <a:r>
                        <a:t>Cursor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E84D3D"/>
                          </a:solidFill>
                        </a:defRPr>
                      </a:pPr>
                      <a:r>
                        <a:t>Reaper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Editor core</a:t>
                      </a:r>
                    </a:p>
                  </a:txBody>
                  <a:tcPr anchor="ctr">
                    <a:solidFill>
                      <a:srgbClr val="2222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VS Code + extensions</a:t>
                      </a:r>
                    </a:p>
                  </a:txBody>
                  <a:tcPr anchor="ctr">
                    <a:solidFill>
                      <a:srgbClr val="2222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Monaco + custom providers</a:t>
                      </a:r>
                    </a:p>
                  </a:txBody>
                  <a:tcPr anchor="ctr">
                    <a:solidFill>
                      <a:srgbClr val="222235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Themes / UX</a:t>
                      </a:r>
                    </a:p>
                  </a:txBody>
                  <a:tcPr anchor="ctr">
                    <a:solidFill>
                      <a:srgbClr val="1E1E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VS Code themes</a:t>
                      </a:r>
                    </a:p>
                  </a:txBody>
                  <a:tcPr anchor="ctr">
                    <a:solidFill>
                      <a:srgbClr val="1E1E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6 themes, IntelliJ-style layout</a:t>
                      </a:r>
                    </a:p>
                  </a:txBody>
                  <a:tcPr anchor="ctr">
                    <a:solidFill>
                      <a:srgbClr val="1E1E30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LSP depth</a:t>
                      </a:r>
                    </a:p>
                  </a:txBody>
                  <a:tcPr anchor="ctr">
                    <a:solidFill>
                      <a:srgbClr val="2222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Full VS Code LSP ecosystem</a:t>
                      </a:r>
                    </a:p>
                  </a:txBody>
                  <a:tcPr anchor="ctr">
                    <a:solidFill>
                      <a:srgbClr val="2222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Deep: Java (jdtls), C/C++ (clangd)</a:t>
                      </a:r>
                    </a:p>
                  </a:txBody>
                  <a:tcPr anchor="ctr">
                    <a:solidFill>
                      <a:srgbClr val="222235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Other languages</a:t>
                      </a:r>
                    </a:p>
                  </a:txBody>
                  <a:tcPr anchor="ctr">
                    <a:solidFill>
                      <a:srgbClr val="1E1E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TS, Python, Rust, Go, etc.</a:t>
                      </a:r>
                    </a:p>
                  </a:txBody>
                  <a:tcPr anchor="ctr">
                    <a:solidFill>
                      <a:srgbClr val="1E1E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Syntax + formatters; limited LSP</a:t>
                      </a:r>
                    </a:p>
                  </a:txBody>
                  <a:tcPr anchor="ctr">
                    <a:solidFill>
                      <a:srgbClr val="1E1E30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Java tooling</a:t>
                      </a:r>
                    </a:p>
                  </a:txBody>
                  <a:tcPr anchor="ctr">
                    <a:solidFill>
                      <a:srgbClr val="2222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Via extensions</a:t>
                      </a:r>
                    </a:p>
                  </a:txBody>
                  <a:tcPr anchor="ctr">
                    <a:solidFill>
                      <a:srgbClr val="2222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Classpath index, javac diag, Spring, JaCoCo</a:t>
                      </a:r>
                    </a:p>
                  </a:txBody>
                  <a:tcPr anchor="ctr">
                    <a:solidFill>
                      <a:srgbClr val="222235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Debugger</a:t>
                      </a:r>
                    </a:p>
                  </a:txBody>
                  <a:tcPr anchor="ctr">
                    <a:solidFill>
                      <a:srgbClr val="1E1E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Full VS Code debugger</a:t>
                      </a:r>
                    </a:p>
                  </a:txBody>
                  <a:tcPr anchor="ctr">
                    <a:solidFill>
                      <a:srgbClr val="1E1E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Not available</a:t>
                      </a:r>
                    </a:p>
                  </a:txBody>
                  <a:tcPr anchor="ctr">
                    <a:solidFill>
                      <a:srgbClr val="1E1E30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Refactoring</a:t>
                      </a:r>
                    </a:p>
                  </a:txBody>
                  <a:tcPr anchor="ctr">
                    <a:solidFill>
                      <a:srgbClr val="2222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LSP + AI agent</a:t>
                      </a:r>
                    </a:p>
                  </a:txBody>
                  <a:tcPr anchor="ctr">
                    <a:solidFill>
                      <a:srgbClr val="2222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Rename, Find Usages, Format, Organize Imports</a:t>
                      </a:r>
                    </a:p>
                  </a:txBody>
                  <a:tcPr anchor="ctr">
                    <a:solidFill>
                      <a:srgbClr val="222235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Inline ghost text</a:t>
                      </a:r>
                    </a:p>
                  </a:txBody>
                  <a:tcPr anchor="ctr">
                    <a:solidFill>
                      <a:srgbClr val="1E1E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Yes (Copilot-style)</a:t>
                      </a:r>
                    </a:p>
                  </a:txBody>
                  <a:tcPr anchor="ctr">
                    <a:solidFill>
                      <a:srgbClr val="1E1E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Yes (Tabnine-style, 1294 regression tests)</a:t>
                      </a:r>
                    </a:p>
                  </a:txBody>
                  <a:tcPr anchor="ctr">
                    <a:solidFill>
                      <a:srgbClr val="1E1E30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Split editor</a:t>
                      </a:r>
                    </a:p>
                  </a:txBody>
                  <a:tcPr anchor="ctr">
                    <a:solidFill>
                      <a:srgbClr val="2222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2222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Not available</a:t>
                      </a:r>
                    </a:p>
                  </a:txBody>
                  <a:tcPr anchor="ctr">
                    <a:solidFill>
                      <a:srgbClr val="222235"/>
                    </a:solidFill>
                  </a:tcPr>
                </a:tc>
              </a:tr>
              <a:tr h="4821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Regression tests</a:t>
                      </a:r>
                    </a:p>
                  </a:txBody>
                  <a:tcPr anchor="ctr">
                    <a:solidFill>
                      <a:srgbClr val="1E1E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External / user</a:t>
                      </a:r>
                    </a:p>
                  </a:txBody>
                  <a:tcPr anchor="ctr">
                    <a:solidFill>
                      <a:srgbClr val="1E1E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1294+ tests on every cargo build</a:t>
                      </a:r>
                    </a:p>
                  </a:txBody>
                  <a:tcPr anchor="ctr">
                    <a:solidFill>
                      <a:srgbClr val="1E1E3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834640"/>
            <a:ext cx="9144000" cy="73152"/>
          </a:xfrm>
          <a:prstGeom prst="rect">
            <a:avLst/>
          </a:prstGeom>
          <a:solidFill>
            <a:srgbClr val="E84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5F5F5"/>
                </a:solidFill>
              </a:defRPr>
            </a:pPr>
            <a:r>
              <a:t>Git &amp; DevOps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F5F5"/>
                </a:solidFill>
              </a:defRPr>
            </a:pPr>
            <a:r>
              <a:t>Git &amp; development workflow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960120"/>
          <a:ext cx="841248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00400"/>
                <a:gridCol w="3200400"/>
              </a:tblGrid>
              <a:tr h="441960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5F5F5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3D9EE8"/>
                          </a:solidFill>
                        </a:defRPr>
                      </a:pPr>
                      <a:r>
                        <a:t>Cursor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E84D3D"/>
                          </a:solidFill>
                        </a:defRPr>
                      </a:pPr>
                      <a:r>
                        <a:t>Reaper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Git UI</a:t>
                      </a:r>
                    </a:p>
                  </a:txBody>
                  <a:tcPr anchor="ctr">
                    <a:solidFill>
                      <a:srgbClr val="2222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Source control panel (VS Code)</a:t>
                      </a:r>
                    </a:p>
                  </a:txBody>
                  <a:tcPr anchor="ctr">
                    <a:solidFill>
                      <a:srgbClr val="2222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Commit panel, log, branch picker, conflicts</a:t>
                      </a:r>
                    </a:p>
                  </a:txBody>
                  <a:tcPr anchor="ctr">
                    <a:solidFill>
                      <a:srgbClr val="222235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Self-hosted git</a:t>
                      </a:r>
                    </a:p>
                  </a:txBody>
                  <a:tcPr anchor="ctr">
                    <a:solidFill>
                      <a:srgbClr val="1E1E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Uses your remotes only</a:t>
                      </a:r>
                    </a:p>
                  </a:txBody>
                  <a:tcPr anchor="ctr">
                    <a:solidFill>
                      <a:srgbClr val="1E1E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Hosts bare repos + smart HTTP</a:t>
                      </a:r>
                    </a:p>
                  </a:txBody>
                  <a:tcPr anchor="ctr">
                    <a:solidFill>
                      <a:srgbClr val="1E1E30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Private enterprise</a:t>
                      </a:r>
                    </a:p>
                  </a:txBody>
                  <a:tcPr anchor="ctr">
                    <a:solidFill>
                      <a:srgbClr val="2222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Clone any remote</a:t>
                      </a:r>
                    </a:p>
                  </a:txBody>
                  <a:tcPr anchor="ctr">
                    <a:solidFill>
                      <a:srgbClr val="2222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PAT import: GitHub, GitLab, Azure, etc.</a:t>
                      </a:r>
                    </a:p>
                  </a:txBody>
                  <a:tcPr anchor="ctr">
                    <a:solidFill>
                      <a:srgbClr val="222235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Publish workflow</a:t>
                      </a:r>
                    </a:p>
                  </a:txBody>
                  <a:tcPr anchor="ctr">
                    <a:solidFill>
                      <a:srgbClr val="1E1E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Via git remote / GitHub</a:t>
                      </a:r>
                    </a:p>
                  </a:txBody>
                  <a:tcPr anchor="ctr">
                    <a:solidFill>
                      <a:srgbClr val="1E1E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Built-in Publish to GitHub</a:t>
                      </a:r>
                    </a:p>
                  </a:txBody>
                  <a:tcPr anchor="ctr">
                    <a:solidFill>
                      <a:srgbClr val="1E1E30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Secret scanning</a:t>
                      </a:r>
                    </a:p>
                  </a:txBody>
                  <a:tcPr anchor="ctr">
                    <a:solidFill>
                      <a:srgbClr val="2222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Not built-in</a:t>
                      </a:r>
                    </a:p>
                  </a:txBody>
                  <a:tcPr anchor="ctr">
                    <a:solidFill>
                      <a:srgbClr val="2222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Pre-commit / pre-push scan</a:t>
                      </a:r>
                    </a:p>
                  </a:txBody>
                  <a:tcPr anchor="ctr">
                    <a:solidFill>
                      <a:srgbClr val="222235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Merge conflicts</a:t>
                      </a:r>
                    </a:p>
                  </a:txBody>
                  <a:tcPr anchor="ctr">
                    <a:solidFill>
                      <a:srgbClr val="1E1E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VS Code merge editor</a:t>
                      </a:r>
                    </a:p>
                  </a:txBody>
                  <a:tcPr anchor="ctr">
                    <a:solidFill>
                      <a:srgbClr val="1E1E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Per-hunk Ours/Theirs/Both UI</a:t>
                      </a:r>
                    </a:p>
                  </a:txBody>
                  <a:tcPr anchor="ctr">
                    <a:solidFill>
                      <a:srgbClr val="1E1E30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Git terminal</a:t>
                      </a:r>
                    </a:p>
                  </a:txBody>
                  <a:tcPr anchor="ctr">
                    <a:solidFill>
                      <a:srgbClr val="2222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Integrated terminal</a:t>
                      </a:r>
                    </a:p>
                  </a:txBody>
                  <a:tcPr anchor="ctr">
                    <a:solidFill>
                      <a:srgbClr val="2222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Whitelisted git console + xterm</a:t>
                      </a:r>
                    </a:p>
                  </a:txBody>
                  <a:tcPr anchor="ctr">
                    <a:solidFill>
                      <a:srgbClr val="222235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Build tasks</a:t>
                      </a:r>
                    </a:p>
                  </a:txBody>
                  <a:tcPr anchor="ctr">
                    <a:solidFill>
                      <a:srgbClr val="1E1E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Tasks / terminal</a:t>
                      </a:r>
                    </a:p>
                  </a:txBody>
                  <a:tcPr anchor="ctr">
                    <a:solidFill>
                      <a:srgbClr val="1E1E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Maven/Gradle/CMake/npm tree panel</a:t>
                      </a:r>
                    </a:p>
                  </a:txBody>
                  <a:tcPr anchor="ctr">
                    <a:solidFill>
                      <a:srgbClr val="1E1E30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Coverage</a:t>
                      </a:r>
                    </a:p>
                  </a:txBody>
                  <a:tcPr anchor="ctr">
                    <a:solidFill>
                      <a:srgbClr val="2222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Via extensions</a:t>
                      </a:r>
                    </a:p>
                  </a:txBody>
                  <a:tcPr anchor="ctr">
                    <a:solidFill>
                      <a:srgbClr val="2222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JaCoCo inline + panel (Java)</a:t>
                      </a:r>
                    </a:p>
                  </a:txBody>
                  <a:tcPr anchor="ctr">
                    <a:solidFill>
                      <a:srgbClr val="222235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Database viewer</a:t>
                      </a:r>
                    </a:p>
                  </a:txBody>
                  <a:tcPr anchor="ctr">
                    <a:solidFill>
                      <a:srgbClr val="1E1E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Via MCP / extensions</a:t>
                      </a:r>
                    </a:p>
                  </a:txBody>
                  <a:tcPr anchor="ctr">
                    <a:solidFill>
                      <a:srgbClr val="1E1E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Built-in Postgres + SQLite</a:t>
                      </a:r>
                    </a:p>
                  </a:txBody>
                  <a:tcPr anchor="ctr">
                    <a:solidFill>
                      <a:srgbClr val="1E1E30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Docker logs</a:t>
                      </a:r>
                    </a:p>
                  </a:txBody>
                  <a:tcPr anchor="ctr">
                    <a:solidFill>
                      <a:srgbClr val="2222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Terminal / extensions</a:t>
                      </a:r>
                    </a:p>
                  </a:txBody>
                  <a:tcPr anchor="ctr">
                    <a:solidFill>
                      <a:srgbClr val="2222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Built-in compose log stream</a:t>
                      </a:r>
                    </a:p>
                  </a:txBody>
                  <a:tcPr anchor="ctr">
                    <a:solidFill>
                      <a:srgbClr val="22223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834640"/>
            <a:ext cx="9144000" cy="73152"/>
          </a:xfrm>
          <a:prstGeom prst="rect">
            <a:avLst/>
          </a:prstGeom>
          <a:solidFill>
            <a:srgbClr val="E84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5F5F5"/>
                </a:solidFill>
              </a:defRPr>
            </a:pPr>
            <a:r>
              <a:t>Strengths &amp; gaps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F5F5"/>
                </a:solidFill>
              </a:defRPr>
            </a:pPr>
            <a:r>
              <a:t>Where each product wins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14400"/>
            <a:ext cx="4023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D9EE8"/>
                </a:solidFill>
              </a:defRPr>
            </a:pPr>
            <a:r>
              <a:t>Cursor strengths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325880"/>
            <a:ext cx="4023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5F5F5"/>
                </a:solidFill>
              </a:defRPr>
            </a:pPr>
            <a:r>
              <a:t>• Best-in-class agent autonomy &amp; cloud execution</a:t>
            </a:r>
          </a:p>
          <a:p>
            <a:pPr>
              <a:spcAft>
                <a:spcPts val="600"/>
              </a:spcAft>
              <a:defRPr sz="1300">
                <a:solidFill>
                  <a:srgbClr val="F5F5F5"/>
                </a:solidFill>
              </a:defRPr>
            </a:pPr>
            <a:r>
              <a:t>• Entire VS Code extension + LSP ecosystem</a:t>
            </a:r>
          </a:p>
          <a:p>
            <a:pPr>
              <a:spcAft>
                <a:spcPts val="600"/>
              </a:spcAft>
              <a:defRPr sz="1300">
                <a:solidFill>
                  <a:srgbClr val="F5F5F5"/>
                </a:solidFill>
              </a:defRPr>
            </a:pPr>
            <a:r>
              <a:t>• Codebase-wide semantic index &amp; @-context</a:t>
            </a:r>
          </a:p>
          <a:p>
            <a:pPr>
              <a:spcAft>
                <a:spcPts val="600"/>
              </a:spcAft>
              <a:defRPr sz="1300">
                <a:solidFill>
                  <a:srgbClr val="F5F5F5"/>
                </a:solidFill>
              </a:defRPr>
            </a:pPr>
            <a:r>
              <a:t>• MCP plugins, rules, skills, BugBot</a:t>
            </a:r>
          </a:p>
          <a:p>
            <a:pPr>
              <a:spcAft>
                <a:spcPts val="600"/>
              </a:spcAft>
              <a:defRPr sz="1300">
                <a:solidFill>
                  <a:srgbClr val="F5F5F5"/>
                </a:solidFill>
              </a:defRPr>
            </a:pPr>
            <a:r>
              <a:t>• Multi-platform + team billing &amp; admin</a:t>
            </a:r>
          </a:p>
          <a:p>
            <a:pPr>
              <a:spcAft>
                <a:spcPts val="600"/>
              </a:spcAft>
              <a:defRPr sz="1300">
                <a:solidFill>
                  <a:srgbClr val="F5F5F5"/>
                </a:solidFill>
              </a:defRPr>
            </a:pPr>
            <a:r>
              <a:t>• Ideal for polyglot teams &amp; greenfield AI workflows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17720" y="914400"/>
            <a:ext cx="4023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84D3D"/>
                </a:solidFill>
              </a:defRPr>
            </a:pPr>
            <a:r>
              <a:t>Reaper strengths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17720" y="1325880"/>
            <a:ext cx="4023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5F5F5"/>
                </a:solidFill>
              </a:defRPr>
            </a:pPr>
            <a:r>
              <a:t>• Self-hosted git studio (bare repo HTTP hosting)</a:t>
            </a:r>
          </a:p>
          <a:p>
            <a:pPr>
              <a:spcAft>
                <a:spcPts val="600"/>
              </a:spcAft>
              <a:defRPr sz="1300">
                <a:solidFill>
                  <a:srgbClr val="F5F5F5"/>
                </a:solidFill>
              </a:defRPr>
            </a:pPr>
            <a:r>
              <a:t>• Enterprise PAT import without leaving the app</a:t>
            </a:r>
          </a:p>
          <a:p>
            <a:pPr>
              <a:spcAft>
                <a:spcPts val="600"/>
              </a:spcAft>
              <a:defRPr sz="1300">
                <a:solidFill>
                  <a:srgbClr val="F5F5F5"/>
                </a:solidFill>
              </a:defRPr>
            </a:pPr>
            <a:r>
              <a:t>• Java-first: Spring Boot, JaCoCo, jdtls, javac loop</a:t>
            </a:r>
          </a:p>
          <a:p>
            <a:pPr>
              <a:spcAft>
                <a:spcPts val="600"/>
              </a:spcAft>
              <a:defRPr sz="1300">
                <a:solidFill>
                  <a:srgbClr val="F5F5F5"/>
                </a:solidFill>
              </a:defRPr>
            </a:pPr>
            <a:r>
              <a:t>• Cursor API bridge — agent models without Cursor IDE</a:t>
            </a:r>
          </a:p>
          <a:p>
            <a:pPr>
              <a:spcAft>
                <a:spcPts val="600"/>
              </a:spcAft>
              <a:defRPr sz="1300">
                <a:solidFill>
                  <a:srgbClr val="F5F5F5"/>
                </a:solidFill>
              </a:defRPr>
            </a:pPr>
            <a:r>
              <a:t>• Integrated build tasks, DB viewer, Docker logs</a:t>
            </a:r>
          </a:p>
          <a:p>
            <a:pPr>
              <a:spcAft>
                <a:spcPts val="600"/>
              </a:spcAft>
              <a:defRPr sz="1300">
                <a:solidFill>
                  <a:srgbClr val="F5F5F5"/>
                </a:solidFill>
              </a:defRPr>
            </a:pPr>
            <a:r>
              <a:t>• Local data ownership; MIT open source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</a:defRPr>
            </a:pPr>
            <a:r>
              <a:t>Reaper gaps vs Cursor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5F5F5"/>
                </a:solidFill>
              </a:defRPr>
            </a:pPr>
            <a:r>
              <a:t>No debugger (breakpoints, watch, call stack)</a:t>
            </a:r>
          </a:p>
          <a:p>
            <a:pPr>
              <a:spcAft>
                <a:spcPts val="800"/>
              </a:spcAft>
              <a:defRPr sz="1600">
                <a:solidFill>
                  <a:srgbClr val="F5F5F5"/>
                </a:solidFill>
              </a:defRPr>
            </a:pPr>
            <a:r>
              <a:t>No extension marketplace or MCP plugin system</a:t>
            </a:r>
          </a:p>
          <a:p>
            <a:pPr>
              <a:spcAft>
                <a:spcPts val="800"/>
              </a:spcAft>
              <a:defRPr sz="1600">
                <a:solidFill>
                  <a:srgbClr val="F5F5F5"/>
                </a:solidFill>
              </a:defRPr>
            </a:pPr>
            <a:r>
              <a:t>Claude agent slot is placeholder (inline only)</a:t>
            </a:r>
          </a:p>
          <a:p>
            <a:pPr>
              <a:spcAft>
                <a:spcPts val="800"/>
              </a:spcAft>
              <a:defRPr sz="1600">
                <a:solidFill>
                  <a:srgbClr val="F5F5F5"/>
                </a:solidFill>
              </a:defRPr>
            </a:pPr>
            <a:r>
              <a:t>Limited LSP beyond Java and C/C++</a:t>
            </a:r>
          </a:p>
          <a:p>
            <a:pPr>
              <a:spcAft>
                <a:spcPts val="800"/>
              </a:spcAft>
              <a:defRPr sz="1600">
                <a:solidFill>
                  <a:srgbClr val="F5F5F5"/>
                </a:solidFill>
              </a:defRPr>
            </a:pPr>
            <a:r>
              <a:t>No cloud/background agents or BugBot</a:t>
            </a:r>
          </a:p>
          <a:p>
            <a:pPr>
              <a:spcAft>
                <a:spcPts val="800"/>
              </a:spcAft>
              <a:defRPr sz="1600">
                <a:solidFill>
                  <a:srgbClr val="F5F5F5"/>
                </a:solidFill>
              </a:defRPr>
            </a:pPr>
            <a:r>
              <a:t>No @codebase context UI or project rules</a:t>
            </a:r>
          </a:p>
          <a:p>
            <a:pPr>
              <a:spcAft>
                <a:spcPts val="800"/>
              </a:spcAft>
              <a:defRPr sz="1600">
                <a:solidFill>
                  <a:srgbClr val="F5F5F5"/>
                </a:solidFill>
              </a:defRPr>
            </a:pPr>
            <a:r>
              <a:t>macOS GUI primary; no Windows/Linux installer yet</a:t>
            </a:r>
          </a:p>
          <a:p>
            <a:pPr>
              <a:spcAft>
                <a:spcPts val="800"/>
              </a:spcAft>
              <a:defRPr sz="1600">
                <a:solidFill>
                  <a:srgbClr val="F5F5F5"/>
                </a:solidFill>
              </a:defRPr>
            </a:pPr>
            <a:r>
              <a:t>No split editor, keybinding editor, or SSH remote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0B0C0"/>
                </a:solidFill>
              </a:defRPr>
            </a:pPr>
            <a:r>
              <a:t>Many gaps are intentional — Reaper targets git-centric local Java/enterprise workflows, not general IDE replacement.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</a:defRPr>
            </a:pPr>
            <a:r>
              <a:t>Cursor gaps vs Reaper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5F5F5"/>
                </a:solidFill>
              </a:defRPr>
            </a:pPr>
            <a:r>
              <a:t>No self-hosted bare git repository hosting</a:t>
            </a:r>
          </a:p>
          <a:p>
            <a:pPr>
              <a:spcAft>
                <a:spcPts val="800"/>
              </a:spcAft>
              <a:defRPr sz="1600">
                <a:solidFill>
                  <a:srgbClr val="F5F5F5"/>
                </a:solidFill>
              </a:defRPr>
            </a:pPr>
            <a:r>
              <a:t>No built-in secret scanning on commit/push</a:t>
            </a:r>
          </a:p>
          <a:p>
            <a:pPr>
              <a:spcAft>
                <a:spcPts val="800"/>
              </a:spcAft>
              <a:defRPr sz="1600">
                <a:solidFill>
                  <a:srgbClr val="F5F5F5"/>
                </a:solidFill>
              </a:defRPr>
            </a:pPr>
            <a:r>
              <a:t>No integrated JaCoCo coverage or Java classpath index</a:t>
            </a:r>
          </a:p>
          <a:p>
            <a:pPr>
              <a:spcAft>
                <a:spcPts val="800"/>
              </a:spcAft>
              <a:defRPr sz="1600">
                <a:solidFill>
                  <a:srgbClr val="F5F5F5"/>
                </a:solidFill>
              </a:defRPr>
            </a:pPr>
            <a:r>
              <a:t>No built-in database viewer or Docker log panel</a:t>
            </a:r>
          </a:p>
          <a:p>
            <a:pPr>
              <a:spcAft>
                <a:spcPts val="800"/>
              </a:spcAft>
              <a:defRPr sz="1600">
                <a:solidFill>
                  <a:srgbClr val="F5F5F5"/>
                </a:solidFill>
              </a:defRPr>
            </a:pPr>
            <a:r>
              <a:t>Requires Cursor subscription for full agent features</a:t>
            </a:r>
          </a:p>
          <a:p>
            <a:pPr>
              <a:spcAft>
                <a:spcPts val="800"/>
              </a:spcAft>
              <a:defRPr sz="1600">
                <a:solidFill>
                  <a:srgbClr val="F5F5F5"/>
                </a:solidFill>
              </a:defRPr>
            </a:pPr>
            <a:r>
              <a:t>Less depth for Maven/Gradle/Spring Boot run workflows</a:t>
            </a:r>
          </a:p>
          <a:p>
            <a:pPr>
              <a:spcAft>
                <a:spcPts val="800"/>
              </a:spcAft>
              <a:defRPr sz="1600">
                <a:solidFill>
                  <a:srgbClr val="F5F5F5"/>
                </a:solidFill>
              </a:defRPr>
            </a:pPr>
            <a:r>
              <a:t>No agent revert per-turn for file edits</a:t>
            </a:r>
          </a:p>
          <a:p>
            <a:pPr>
              <a:spcAft>
                <a:spcPts val="800"/>
              </a:spcAft>
              <a:defRPr sz="1600">
                <a:solidFill>
                  <a:srgbClr val="F5F5F5"/>
                </a:solidFill>
              </a:defRPr>
            </a:pPr>
            <a:r>
              <a:t>Vendor lock-in to Anysphere cloud for background agents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834640"/>
            <a:ext cx="9144000" cy="73152"/>
          </a:xfrm>
          <a:prstGeom prst="rect">
            <a:avLst/>
          </a:prstGeom>
          <a:solidFill>
            <a:srgbClr val="E84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5F5F5"/>
                </a:solidFill>
              </a:defRPr>
            </a:pPr>
            <a:r>
              <a:t>Decision guide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F5F5"/>
                </a:solidFill>
              </a:defRPr>
            </a:pPr>
            <a:r>
              <a:t>When to choose which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960120"/>
          <a:ext cx="841248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00400"/>
                <a:gridCol w="3200400"/>
              </a:tblGrid>
              <a:tr h="589280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5F5F5"/>
                          </a:solidFill>
                        </a:defRPr>
                      </a:pPr>
                      <a:r>
                        <a:t>Scenario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3D9EE8"/>
                          </a:solidFill>
                        </a:defRPr>
                      </a:pPr>
                      <a:r>
                        <a:t>Better fit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E84D3D"/>
                          </a:solidFill>
                        </a:defRPr>
                      </a:pPr>
                      <a:r>
                        <a:t>Why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Polyglot startup, AI-first culture</a:t>
                      </a:r>
                    </a:p>
                  </a:txBody>
                  <a:tcPr anchor="ctr">
                    <a:solidFill>
                      <a:srgbClr val="2222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Cursor</a:t>
                      </a:r>
                    </a:p>
                  </a:txBody>
                  <a:tcPr anchor="ctr">
                    <a:solidFill>
                      <a:srgbClr val="2222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Agents, extensions, cloud PRs</a:t>
                      </a:r>
                    </a:p>
                  </a:txBody>
                  <a:tcPr anchor="ctr">
                    <a:solidFill>
                      <a:srgbClr val="222235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Java/Spring enterprise monorepo</a:t>
                      </a:r>
                    </a:p>
                  </a:txBody>
                  <a:tcPr anchor="ctr">
                    <a:solidFill>
                      <a:srgbClr val="1E1E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Reaper</a:t>
                      </a:r>
                    </a:p>
                  </a:txBody>
                  <a:tcPr anchor="ctr">
                    <a:solidFill>
                      <a:srgbClr val="1E1E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jdtls, JaCoCo, build tasks, Spring run</a:t>
                      </a:r>
                    </a:p>
                  </a:txBody>
                  <a:tcPr anchor="ctr">
                    <a:solidFill>
                      <a:srgbClr val="1E1E30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Self-hosted / air-gapped git studio</a:t>
                      </a:r>
                    </a:p>
                  </a:txBody>
                  <a:tcPr anchor="ctr">
                    <a:solidFill>
                      <a:srgbClr val="2222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Reaper</a:t>
                      </a:r>
                    </a:p>
                  </a:txBody>
                  <a:tcPr anchor="ctr">
                    <a:solidFill>
                      <a:srgbClr val="2222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Local ~/reaper, bare HTTP git</a:t>
                      </a:r>
                    </a:p>
                  </a:txBody>
                  <a:tcPr anchor="ctr">
                    <a:solidFill>
                      <a:srgbClr val="222235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Private GitLab/Azure with PATs</a:t>
                      </a:r>
                    </a:p>
                  </a:txBody>
                  <a:tcPr anchor="ctr">
                    <a:solidFill>
                      <a:srgbClr val="1E1E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Reaper</a:t>
                      </a:r>
                    </a:p>
                  </a:txBody>
                  <a:tcPr anchor="ctr">
                    <a:solidFill>
                      <a:srgbClr val="1E1E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Built-in PAT import &amp; sync</a:t>
                      </a:r>
                    </a:p>
                  </a:txBody>
                  <a:tcPr anchor="ctr">
                    <a:solidFill>
                      <a:srgbClr val="1E1E30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Multi-repo parallel cloud agents</a:t>
                      </a:r>
                    </a:p>
                  </a:txBody>
                  <a:tcPr anchor="ctr">
                    <a:solidFill>
                      <a:srgbClr val="2222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Cursor</a:t>
                      </a:r>
                    </a:p>
                  </a:txBody>
                  <a:tcPr anchor="ctr">
                    <a:solidFill>
                      <a:srgbClr val="2222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Cursor 3 agent workspace</a:t>
                      </a:r>
                    </a:p>
                  </a:txBody>
                  <a:tcPr anchor="ctr">
                    <a:solidFill>
                      <a:srgbClr val="222235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Use Cursor models, own your IDE</a:t>
                      </a:r>
                    </a:p>
                  </a:txBody>
                  <a:tcPr anchor="ctr">
                    <a:solidFill>
                      <a:srgbClr val="1E1E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Reaper</a:t>
                      </a:r>
                    </a:p>
                  </a:txBody>
                  <a:tcPr anchor="ctr">
                    <a:solidFill>
                      <a:srgbClr val="1E1E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Cursor bridge without Cursor app</a:t>
                      </a:r>
                    </a:p>
                  </a:txBody>
                  <a:tcPr anchor="ctr">
                    <a:solidFill>
                      <a:srgbClr val="1E1E30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Full debugger + test explorer</a:t>
                      </a:r>
                    </a:p>
                  </a:txBody>
                  <a:tcPr anchor="ctr">
                    <a:solidFill>
                      <a:srgbClr val="2222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Cursor</a:t>
                      </a:r>
                    </a:p>
                  </a:txBody>
                  <a:tcPr anchor="ctr">
                    <a:solidFill>
                      <a:srgbClr val="2222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VS Code debugging ecosystem</a:t>
                      </a:r>
                    </a:p>
                  </a:txBody>
                  <a:tcPr anchor="ctr">
                    <a:solidFill>
                      <a:srgbClr val="222235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Commit hygiene + secret prevention</a:t>
                      </a:r>
                    </a:p>
                  </a:txBody>
                  <a:tcPr anchor="ctr">
                    <a:solidFill>
                      <a:srgbClr val="1E1E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Reaper</a:t>
                      </a:r>
                    </a:p>
                  </a:txBody>
                  <a:tcPr anchor="ctr">
                    <a:solidFill>
                      <a:srgbClr val="1E1E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Secret scan + AI commit msg</a:t>
                      </a:r>
                    </a:p>
                  </a:txBody>
                  <a:tcPr anchor="ctr">
                    <a:solidFill>
                      <a:srgbClr val="1E1E3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</a:defRPr>
            </a:pPr>
            <a:r>
              <a:t>Hybrid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5F5F5"/>
                </a:solidFill>
              </a:defRPr>
            </a:pPr>
            <a:r>
              <a:t>Teams can use Reaper for day-to-day Java/git work and Cursor for agent-heavy refactors.</a:t>
            </a:r>
          </a:p>
          <a:p>
            <a:pPr>
              <a:spcAft>
                <a:spcPts val="800"/>
              </a:spcAft>
              <a:defRPr sz="1600">
                <a:solidFill>
                  <a:srgbClr val="F5F5F5"/>
                </a:solidFill>
              </a:defRPr>
            </a:pPr>
            <a:r>
              <a:t>Reaper's Cursor bridge lets developers consume Cursor agent API without switching IDEs.</a:t>
            </a:r>
          </a:p>
          <a:p>
            <a:pPr>
              <a:spcAft>
                <a:spcPts val="800"/>
              </a:spcAft>
              <a:defRPr sz="1600">
                <a:solidFill>
                  <a:srgbClr val="F5F5F5"/>
                </a:solidFill>
              </a:defRPr>
            </a:pPr>
            <a:r>
              <a:t>Gemini in Reaper covers read-only Q&amp;A, commit messages, and inline completions at lower cost.</a:t>
            </a:r>
          </a:p>
          <a:p>
            <a:pPr>
              <a:spcAft>
                <a:spcPts val="800"/>
              </a:spcAft>
              <a:defRPr sz="1600">
                <a:solidFill>
                  <a:srgbClr val="F5F5F5"/>
                </a:solidFill>
              </a:defRPr>
            </a:pPr>
            <a:r>
              <a:t>Reaper's regression suite (1294 tests) guards editor behavior on every build — unique for a git studio.</a:t>
            </a:r>
          </a:p>
          <a:p>
            <a:pPr>
              <a:spcAft>
                <a:spcPts val="800"/>
              </a:spcAft>
              <a:defRPr sz="1600">
                <a:solidFill>
                  <a:srgbClr val="F5F5F5"/>
                </a:solidFill>
              </a:defRPr>
            </a:pPr>
            <a:r>
              <a:t>Roadmap opportunity: Claude agent, rules/skills, debugger — closing gaps while keeping git-studio focus.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D9EE8"/>
                </a:solidFill>
              </a:defRPr>
            </a:pPr>
            <a:r>
              <a:t>Cursor = AI-native general-purpose IDE with cloud agents</a:t>
            </a:r>
          </a:p>
          <a:p>
            <a:pPr>
              <a:spcAft>
                <a:spcPts val="800"/>
              </a:spcAft>
              <a:defRPr sz="1600">
                <a:solidFill>
                  <a:srgbClr val="E84D3D"/>
                </a:solidFill>
              </a:defRPr>
            </a:pPr>
            <a:r>
              <a:t>Reaper = local git studio with Java depth + multi-provider AI</a:t>
            </a:r>
          </a:p>
          <a:p>
            <a:pPr>
              <a:spcAft>
                <a:spcPts val="800"/>
              </a:spcAft>
              <a:defRPr sz="1600">
                <a:solidFill>
                  <a:srgbClr val="F5F5F5"/>
                </a:solidFill>
              </a:defRPr>
            </a:pPr>
            <a:r>
              <a:t>Not direct substitutes — complementary for enterprise Java teams.</a:t>
            </a:r>
          </a:p>
          <a:p>
            <a:pPr>
              <a:spcAft>
                <a:spcPts val="800"/>
              </a:spcAft>
              <a:defRPr sz="1600">
                <a:solidFill>
                  <a:srgbClr val="F5F5F5"/>
                </a:solidFill>
              </a:defRPr>
            </a:pPr>
            <a:r>
              <a:t>Reaper differentiates on self-hosted git, PAT workflows, build/DB/coverage integration.</a:t>
            </a:r>
          </a:p>
          <a:p>
            <a:pPr>
              <a:spcAft>
                <a:spcPts val="800"/>
              </a:spcAft>
              <a:defRPr sz="1600">
                <a:solidFill>
                  <a:srgbClr val="F5F5F5"/>
                </a:solidFill>
              </a:defRPr>
            </a:pPr>
            <a:r>
              <a:t>Cursor differentiates on agent autonomy, ecosystem breadth, and team/cloud scale.</a:t>
            </a:r>
          </a:p>
          <a:p>
            <a:pPr>
              <a:spcAft>
                <a:spcPts val="800"/>
              </a:spcAft>
              <a:defRPr sz="1600">
                <a:solidFill>
                  <a:srgbClr val="F5F5F5"/>
                </a:solidFill>
              </a:defRPr>
            </a:pPr>
            <a:r>
              <a:t>Evaluate based on: language mix, hosting model, AI budget, and compliance requirements.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5F5F5"/>
                </a:solidFill>
              </a:defRPr>
            </a:pPr>
            <a: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B0B0C0"/>
                </a:solidFill>
              </a:defRPr>
            </a:pPr>
            <a:r>
              <a:t>docs/Cursor-vs-Reaper-Comparison.pptx · reaper-org/reaper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0B0C0"/>
                </a:solidFill>
              </a:defRPr>
            </a:pPr>
            <a:r>
              <a:t>Reaper v0.1.3 · July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